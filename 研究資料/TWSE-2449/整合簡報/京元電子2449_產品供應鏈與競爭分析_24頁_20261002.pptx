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營收（億元）</c:v>
                </c:pt>
              </c:strCache>
            </c:strRef>
          </c:tx>
          <c:dPt>
            <c:idx val="0"/>
            <c:spPr>
              <a:solidFill>
                <a:srgbClr val="028090"/>
              </a:solidFill>
            </c:spPr>
          </c:dPt>
          <c:dPt>
            <c:idx val="1"/>
            <c:spPr>
              <a:solidFill>
                <a:srgbClr val="00A896"/>
              </a:solidFill>
            </c:spPr>
          </c:dPt>
          <c:dPt>
            <c:idx val="2"/>
            <c:spPr>
              <a:solidFill>
                <a:srgbClr val="9FB7BC"/>
              </a:solidFill>
            </c:spPr>
          </c:dPt>
          <c:cat>
            <c:strRef>
              <c:f>Sheet1!$A$2:$A$4</c:f>
              <c:strCache>
                <c:ptCount val="3"/>
                <c:pt idx="0">
                  <c:v>積體電路測試</c:v>
                </c:pt>
                <c:pt idx="1">
                  <c:v>晶圓測試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232.1</c:v>
                </c:pt>
                <c:pt idx="1">
                  <c:v>106.8</c:v>
                </c:pt>
                <c:pt idx="2">
                  <c:v>10.5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營收（億元）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Sheet1!$A$2:$A$6</c:f>
              <c:strCache>
                <c:ptCount val="5"/>
                <c:pt idx="0">
                  <c:v>2Q25</c:v>
                </c:pt>
                <c:pt idx="1">
                  <c:v>3Q25</c:v>
                </c:pt>
                <c:pt idx="2">
                  <c:v>4Q25</c:v>
                </c:pt>
                <c:pt idx="3">
                  <c:v>1Q26</c:v>
                </c:pt>
                <c:pt idx="4">
                  <c:v>2Q26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83.6</c:v>
                </c:pt>
                <c:pt idx="1">
                  <c:v>92.9</c:v>
                </c:pt>
                <c:pt idx="2">
                  <c:v>99.7</c:v>
                </c:pt>
                <c:pt idx="3">
                  <c:v>101.9</c:v>
                </c:pt>
                <c:pt idx="4">
                  <c:v>111.4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60520"/>
            <a:ext cx="2926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731520" y="1554480"/>
            <a:ext cx="10728655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  <a:latin typeface="Impact"/>
                <a:ea typeface="Microsoft JhengHei"/>
                <a:cs typeface="Microsoft JhengHei"/>
              </a:rPr>
              <a:t>京元電子 2449｜AI 測試與 Burn-in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產品供應鏈與競爭分析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2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資料截止 2026-10-02｜產業模組 osat（封裝測試）｜Kevin 模型 CPO 錨定情境 A／B ｜ 2026-10-02 ｜ 非投資建議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結論：基本面創高，但股價已超前線性年化模型約五成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p.7；Kevin workbook 1–8 月營收；Bigdata.com 股價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294.0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1–8 月營收（億元）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年增 35.5%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83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3.91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EPS（元）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合併淨利率 22.4%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7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185／196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Kevin A／B（元）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J 6.23，CPO 錨定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191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351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295.5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10/2 收盤（元）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351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較 A −37%、較 B −34%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股價隱含年化營收約 579 億（月 48.2 億），比 8 月 40.8 億高 18%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押注 Rubin 與頭份／楊梅新廠 2026Q4–2027 放量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投資論點：AI Burn-in 帶量，新廠產能決定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p.7、p.9；2025 年報 p.1、p.51、p.107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498079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營收：1–8 月 294.0 億、年增 35.5%，8 月 40.8 億創新高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115Q2 營收 111.4 億，季增 9.3%、年增 33.2%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毛利率：25Q3 34.3% → 26Q2 39.5%，自製高功耗 Burn-in 推升組合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研發計畫近半投在 Burn-in（6,000 萬／1.28 億）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產能：頭份、楊梅、銅鑼五廠 2026 年投產，新增無塵室約 35,000 坪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代價：1H26 capex 138.8 億、FCF −75 億，淨負債 288.6 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成長確定性高，估值問題在「已經反映多少」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公司與產品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純測試廠：測試占營收 97%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營收結構：積體電路測試升到 66%，晶圓測試 31%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p.84；2024 年報 p.82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5 / 24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IC 測試年增 46%，Burn-in 屬此類；晶圓測試年增 12%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單季走勢：營收連五季成長，毛利率站上 39%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p.7（1Q26＝1H26−2Q26）；3Q25、4Q25 為 Bigdata.com（FMP）；EPS 未追溯 8/3 股票股利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6 / 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季度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營收（億）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毛利率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營益率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業外（億）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合併淨利（億）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EPS（元）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2Q25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21.75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3Q25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92.9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34.3%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26.8%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3.94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23.02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1.88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4Q25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1Q26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101.9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39.7%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27.2%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22.87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1.87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2Q26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服務組合：CP、FT、Burn-in 一站完成，封裝委外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p.84、p.86、p.89–90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2567863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晶圓針測 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兩次針測＋雷射修補；2025 營收 106.8 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823" y="1325880"/>
            <a:ext cx="2567863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03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成品測試 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功能、速度、功耗；三溫測試研發中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325880"/>
            <a:ext cx="2567863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Burn-in 預燒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自製 HP600／HP320 高功耗爐，液冷預燒板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191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5191" y="1325880"/>
            <a:ext cx="2567863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071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研磨切割／出貨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研磨、切割、AOI、捲帶、Drop 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工程圖解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圖組依 osat 產業模組 visual_templates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測試流程：CP、FT、Burn-in 是京元電主要工序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p.84、p.87、p.89–90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9 / 24</a:t>
            </a:r>
          </a:p>
        </p:txBody>
      </p:sp>
      <p:pic>
        <p:nvPicPr>
          <p:cNvPr id="8" name="Picture 7" descr="01_封測流程總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流程依年報產製過程；深色為京元電工序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測試平台：ATE 外購，Burn-in 與 Handler 大量自製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p.2、p.86、p.107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10 / 24</a:t>
            </a:r>
          </a:p>
        </p:txBody>
      </p:sp>
      <p:pic>
        <p:nvPicPr>
          <p:cNvPr id="8" name="Picture 7" descr="02_測試平台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三欄配置為研究推論；自製項目依年報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新技術：高功率 Burn-in 量產，CPO 測試機台 115Q4 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p.2、p.86、p.107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11 / 24</a:t>
            </a:r>
          </a:p>
        </p:txBody>
      </p:sp>
      <p:pic>
        <p:nvPicPr>
          <p:cNvPr id="8" name="Picture 7" descr="03_新技術測試路線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矽光子／CPO 營收占比未揭露，不推估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產能：三座新廠 2026 投產，capex 跳到 400 億級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p.1、p.51、p.105；115Q2 p.9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12 / 24</a:t>
            </a:r>
          </a:p>
        </p:txBody>
      </p:sp>
      <p:pic>
        <p:nvPicPr>
          <p:cNvPr id="8" name="Picture 7" descr="04_產能與資本支出時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2026 capex 500 億為媒體轉述，模型不採用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價值鏈：AI 晶片出貨前最後一道品質關卡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p.85–86、p.91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13 / 24</a:t>
            </a:r>
          </a:p>
        </p:txBody>
      </p:sp>
      <p:pic>
        <p:nvPicPr>
          <p:cNvPr id="8" name="Picture 7" descr="05_產業價值鏈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箭頭不代表已核實訂單；客戶以代號揭露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財務結構：毛利率 39.5%，但新廠費用壓住營益率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p.7、p.9、p.42、p.44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14 / 24</a:t>
            </a:r>
          </a:p>
        </p:txBody>
      </p:sp>
      <p:pic>
        <p:nvPicPr>
          <p:cNvPr id="8" name="Picture 7" descr="06_折舊槓桿與獲利結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上排經營槓桿為研究推論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供應鏈與競爭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同業依 osat 規則分純測試與封測一體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客戶與市場：最大客戶占比由 18% 升到 36%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p.84、p.87、p.91；客戶以代號揭露，不推定名稱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16 / 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甲客戶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乙客戶（關係人）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13%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前兩大合計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外銷比重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68.34%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70.57%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全球封測排名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第七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第七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同業：京元電本益比較純測試同業高約三成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來源：京元電 115Q2 官方＋Bigdata.com 10/2；矽格取 TWSE-6257 研究；欣銓、日月光 Bigdata.com（FMP）10/1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17 / 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類型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股價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TTM P/E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P/B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最新季毛利率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京元電 2449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純測試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40.7x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矽格 6257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測試為主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256.5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30.1x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4.9x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34.2%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欣銓 3264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純測試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31.0x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日月光 3711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封測一體（參考）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710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51.0x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8.0x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21.0%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純測試同業中位數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矽格、欣銓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30.5x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5.4x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競爭格局：Burn-in 自製是護城河，客戶集中是代價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p.85–88、p.91；同業表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年報：封測大者恆大，IDM 持續釋出委外；京元電 2025 全球第七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差異化：自製高功耗預燒爐、液冷預燒板與 KITS 自動化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媒體稱已通過 Rubin 世代認證，公司未公告，不進模型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風險：甲客戶 36%，競爭者與 ATE 大廠合作切入 Burn-in（媒體）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相對估值：RelPE 1.33、毛利率高 2.3ppt → 成長溢價，不是低估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財務與估值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Kevin 模型 CPO 錨定（與 workbook 分類一致）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季營收連五季成長，2Q26 達 111.4 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p.7；3Q25、4Q25 為 Bigdata.com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20 / 24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7–8 月月均 40.4 億，較 Q2 月均 37.1 億高 9%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Kevin 模型：情境 A 185 元、B 196 元，均低於股價三成以上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來源：模型/valuation-20261002-kevin-provisional-*.json；J 6.23＝繼續營業 2025 EPS 追溯 8/3 股票股利；J 6.55 為 workbook 口徑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21 / 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A｜J 6.23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A｜J 6.55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B｜J 6.23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B｜J 6.55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年化營收（億）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441.1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441.1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455.5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455.5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合併淨利率 H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22.40%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22.40%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22.36%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22.36%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預期 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EPS 成長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23.5%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17.5%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27.3%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21.1%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PE_P／PE_Q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25.1／23.0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24.4／21.5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25.5／23.8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24.8／22.4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模型價（元）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184.8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176.6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195.5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187.3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較 295.5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−36.6%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敏感度：股價要 H 升到約 29% 或月營收 48 億才合理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來源：模型/sensitivity-H-20261002.json、reverse-implied-revenue-20261002.json（反解屬計算，不是預測）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22 / 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合併淨利率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預期 EPS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模型價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較現價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163.2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−44.8%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22.4%（1H26）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7.70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184.8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−37.4%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201.8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−31.7%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8.59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225.1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−23.8%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−13.1%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月營收 48.2 億（H 22.4%）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10.10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295.5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風險與追蹤：依 osat 模組 guards 逐項檢查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p.42、p.44、p.54；2025 年報 p.91、p.104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新廠折舊與開辦費先行：Q2 費用中折舊年增 156%，管理費用年增 138%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客戶集中：甲客戶 36%；Rubin 延後至 Q3 底（媒體），時程風險直接打在營收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擴產期現金流：1H26 FCF −75 億；授信條款流動比率 ≥100%（目前 147%）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盈餘品質 clean：非經常性占稅前 5.4%；基期 9.01 含京隆處分利益，改用 6.23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追蹤：9 月營收（10/10 前）、3Q26 財報（11 月）、月營收能否站上 45 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結論：好公司、貴價格，等營收追上股價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AI1）、2025 年報（MOPS F04）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3891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Kevin（CPO 錨定）情境 A 184.8 元、B 195.5 元（J 6.23）；workbook 口徑 J 6.55 為 176.6／187.3 元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股價隱含月營收 48.2 億；月營收連兩月站上 48 億且毛利率守 39%，模型才追上股價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缺口：2026Q1 財報 PDF、法說簡報、MOPS 月營收原檔、公司身分官方查核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sclaimer"/>
          <p:cNvSpPr txBox="1"/>
          <p:nvPr/>
        </p:nvSpPr>
        <p:spPr>
          <a:xfrm>
            <a:off x="685800" y="5705856"/>
            <a:ext cx="10820095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非投資建議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mpact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