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與結論" id="{f00ecf9a-d454-6bbd-78f8-055f19e0d1a9}">
          <p14:sldIdLst>
            <p14:sldId id="256"/>
            <p14:sldId id="257"/>
          </p14:sldIdLst>
        </p14:section>
        <p14:section name="公司與產品" id="{9a23a75b-9119-8f0c-fb47-a928b753639c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供應鏈與競爭" id="{d17fd8bc-d4b0-2ef8-9562-2065e06282e9}">
          <p14:sldIdLst>
            <p14:sldId id="265"/>
            <p14:sldId id="266"/>
            <p14:sldId id="267"/>
            <p14:sldId id="268"/>
            <p14:sldId id="269"/>
          </p14:sldIdLst>
        </p14:section>
        <p14:section name="財務與估值" id="{7b2df7ec-4ae6-32b1-5446-02e16565597d}">
          <p14:sldIdLst>
            <p14:sldId id="270"/>
            <p14:sldId id="271"/>
            <p14:sldId id="272"/>
            <p14:sldId id="273"/>
            <p14:sldId id="274"/>
          </p14:sldIdLst>
        </p14:section>
        <p14:section name="風險與追蹤" id="{6835c618-04bf-a1d3-6e55-8fedf1f59f57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323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4323A"/>
                </a:solidFill>
                <a:latin typeface="+mn-lt"/>
              </a:rPr>
              <a:t>產品線營收（NT$ 百萬元）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D5E3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智能自動操作（AI）</c:v>
                  </c:pt>
                  <c:pt idx="1">
                    <c:v>數據採集（IoT）</c:v>
                  </c:pt>
                  <c:pt idx="2">
                    <c:v>GoVision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193.4</c:v>
                </c:pt>
                <c:pt idx="1">
                  <c:v>158.6</c:v>
                </c:pt>
                <c:pt idx="2">
                  <c:v>56.9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智能自動操作（AI）</c:v>
                  </c:pt>
                  <c:pt idx="1">
                    <c:v>數據採集（IoT）</c:v>
                  </c:pt>
                  <c:pt idx="2">
                    <c:v>GoVision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293.8</c:v>
                </c:pt>
                <c:pt idx="1">
                  <c:v>253.1</c:v>
                </c:pt>
                <c:pt idx="2">
                  <c:v>257.6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3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323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4323A"/>
                </a:solidFill>
                <a:latin typeface="+mn-lt"/>
              </a:rPr>
              <a:t>2025 營收：客戶占比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客戶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D5E3E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 客戶</c:v>
                </c:pt>
                <c:pt idx="1">
                  <c:v>G 客戶</c:v>
                </c:pt>
                <c:pt idx="2">
                  <c:v>I 客戶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67</c:v>
                </c:pt>
                <c:pt idx="1">
                  <c:v>18</c:v>
                </c:pt>
                <c:pt idx="2">
                  <c:v>11</c:v>
                </c:pt>
                <c:pt idx="3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323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4323A"/>
                </a:solidFill>
                <a:latin typeface="+mn-lt"/>
              </a:rPr>
              <a:t>2025 營收：地區占比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地區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D5E3E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台灣</c:v>
                </c:pt>
                <c:pt idx="1">
                  <c:v>新加坡</c:v>
                </c:pt>
                <c:pt idx="2">
                  <c:v>中國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85.6</c:v>
                </c:pt>
                <c:pt idx="1">
                  <c:v>10.9</c:v>
                </c:pt>
                <c:pt idx="2">
                  <c:v>0.8</c:v>
                </c:pt>
                <c:pt idx="3">
                  <c:v>2.7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323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4323A"/>
                </a:solidFill>
                <a:latin typeface="+mn-lt"/>
              </a:rPr>
              <a:t>月營收（NT$ 百萬元）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5E3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45.8</c:v>
                </c:pt>
                <c:pt idx="1">
                  <c:v>48.8</c:v>
                </c:pt>
                <c:pt idx="2">
                  <c:v>53.3</c:v>
                </c:pt>
                <c:pt idx="3">
                  <c:v>55.1</c:v>
                </c:pt>
                <c:pt idx="4">
                  <c:v>60.3</c:v>
                </c:pt>
                <c:pt idx="5">
                  <c:v>64.3</c:v>
                </c:pt>
                <c:pt idx="6">
                  <c:v>69.2</c:v>
                </c:pt>
                <c:pt idx="7">
                  <c:v>75.3</c:v>
                </c:pt>
                <c:pt idx="8">
                  <c:v>78</c:v>
                </c:pt>
                <c:pt idx="9">
                  <c:v>82.3</c:v>
                </c:pt>
                <c:pt idx="10">
                  <c:v>85.1</c:v>
                </c:pt>
                <c:pt idx="11">
                  <c:v>88.1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91</c:v>
                </c:pt>
                <c:pt idx="1">
                  <c:v>93.1</c:v>
                </c:pt>
                <c:pt idx="2">
                  <c:v>100.1</c:v>
                </c:pt>
                <c:pt idx="3">
                  <c:v>110.2</c:v>
                </c:pt>
                <c:pt idx="4">
                  <c:v>120.2</c:v>
                </c:pt>
                <c:pt idx="5">
                  <c:v>129.3</c:v>
                </c:pt>
                <c:pt idx="6">
                  <c:v>138</c:v>
                </c:pt>
                <c:pt idx="7">
                  <c:v>148.2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323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4323A"/>
                </a:solidFill>
                <a:latin typeface="+mn-lt"/>
              </a:rPr>
              <a:t>單季三率（%）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毛利率</c:v>
                </c:pt>
              </c:strCache>
            </c:strRef>
          </c:tx>
          <c:spPr>
            <a:solidFill>
              <a:srgbClr val="028090"/>
            </a:solidFill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24Q3</c:v>
                  </c:pt>
                  <c:pt idx="1">
                    <c:v>24Q4</c:v>
                  </c:pt>
                  <c:pt idx="2">
                    <c:v>25Q1</c:v>
                  </c:pt>
                  <c:pt idx="3">
                    <c:v>25Q2</c:v>
                  </c:pt>
                  <c:pt idx="4">
                    <c:v>25Q3</c:v>
                  </c:pt>
                  <c:pt idx="5">
                    <c:v>25Q4</c:v>
                  </c:pt>
                  <c:pt idx="6">
                    <c:v>26Q1</c:v>
                  </c:pt>
                  <c:pt idx="7">
                    <c:v>26Q2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59.9</c:v>
                </c:pt>
                <c:pt idx="1">
                  <c:v>62.7</c:v>
                </c:pt>
                <c:pt idx="2">
                  <c:v>65.1</c:v>
                </c:pt>
                <c:pt idx="3">
                  <c:v>62.5</c:v>
                </c:pt>
                <c:pt idx="4">
                  <c:v>66.5</c:v>
                </c:pt>
                <c:pt idx="5">
                  <c:v>68.1</c:v>
                </c:pt>
                <c:pt idx="6">
                  <c:v>68.4</c:v>
                </c:pt>
                <c:pt idx="7">
                  <c:v>66.8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營益率</c:v>
                </c:pt>
              </c:strCache>
            </c:strRef>
          </c:tx>
          <c:spPr>
            <a:solidFill>
              <a:srgbClr val="00A896"/>
            </a:solidFill>
            <a:ln w="254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24Q3</c:v>
                  </c:pt>
                  <c:pt idx="1">
                    <c:v>24Q4</c:v>
                  </c:pt>
                  <c:pt idx="2">
                    <c:v>25Q1</c:v>
                  </c:pt>
                  <c:pt idx="3">
                    <c:v>25Q2</c:v>
                  </c:pt>
                  <c:pt idx="4">
                    <c:v>25Q3</c:v>
                  </c:pt>
                  <c:pt idx="5">
                    <c:v>25Q4</c:v>
                  </c:pt>
                  <c:pt idx="6">
                    <c:v>26Q1</c:v>
                  </c:pt>
                  <c:pt idx="7">
                    <c:v>26Q2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34.3</c:v>
                </c:pt>
                <c:pt idx="1">
                  <c:v>40.7</c:v>
                </c:pt>
                <c:pt idx="2">
                  <c:v>50.7</c:v>
                </c:pt>
                <c:pt idx="3">
                  <c:v>48.6</c:v>
                </c:pt>
                <c:pt idx="4">
                  <c:v>53.8</c:v>
                </c:pt>
                <c:pt idx="5">
                  <c:v>56.3</c:v>
                </c:pt>
                <c:pt idx="6">
                  <c:v>58.9</c:v>
                </c:pt>
                <c:pt idx="7">
                  <c:v>58.3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淨利率</c:v>
                </c:pt>
              </c:strCache>
            </c:strRef>
          </c:tx>
          <c:spPr>
            <a:solidFill>
              <a:srgbClr val="5B7077"/>
            </a:solidFill>
            <a:ln w="25400" cap="flat">
              <a:solidFill>
                <a:srgbClr val="5B70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7077"/>
              </a:solidFill>
              <a:ln w="9525" cap="flat">
                <a:solidFill>
                  <a:srgbClr val="5B70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24Q3</c:v>
                  </c:pt>
                  <c:pt idx="1">
                    <c:v>24Q4</c:v>
                  </c:pt>
                  <c:pt idx="2">
                    <c:v>25Q1</c:v>
                  </c:pt>
                  <c:pt idx="3">
                    <c:v>25Q2</c:v>
                  </c:pt>
                  <c:pt idx="4">
                    <c:v>25Q3</c:v>
                  </c:pt>
                  <c:pt idx="5">
                    <c:v>25Q4</c:v>
                  </c:pt>
                  <c:pt idx="6">
                    <c:v>26Q1</c:v>
                  </c:pt>
                  <c:pt idx="7">
                    <c:v>26Q2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33.6</c:v>
                </c:pt>
                <c:pt idx="1">
                  <c:v>31.5</c:v>
                </c:pt>
                <c:pt idx="2">
                  <c:v>42.4</c:v>
                </c:pt>
                <c:pt idx="3">
                  <c:v>39.1</c:v>
                </c:pt>
                <c:pt idx="4">
                  <c:v>45.7</c:v>
                </c:pt>
                <c:pt idx="5">
                  <c:v>54.7</c:v>
                </c:pt>
                <c:pt idx="6">
                  <c:v>47.3</c:v>
                </c:pt>
                <c:pt idx="7">
                  <c:v>48.9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5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封面。資料來源：2025 年報、2025 年度合併財報、2026Q2 季報、2026-09-09 法說整理。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 模型潛力股錨定 base 23.8425/17.391；情境 A 1–8 月年化 N=28.76，情境 B 近月動能 N=31.43。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來源：2025 年度合併財報附註一、六(十三)、六(十七)、七、十四(七)；2026Q2 季報。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 年報 p.71 營業比重；2026 年口徑來自 2026-09-09 法說。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年報 p.70–74。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年報 p.74 iRPA A–F。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年報 p.2、p.74。設備為通用示意。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年報 p.72；金融阮實力報導。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 年度合併財報附註十四(七)、六(十七)。H 客戶占比由 50%（2024）升至 67%（2025）；I 客戶金額等於新加坡營收 87,697 千元。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24Q3–25Q4 淨利率由四捨五入公開數字推算，僅供趨勢參考。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收盤價 2026/09/30；盟立 TTM EPS 0.41 元，PE 不列入統計。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竹陞 6739｜產品、供應鏈與工程競爭分析｜2026-10-02｜非投資建議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ea typeface="Microsoft JhengHei"/>
              </a:rPr>
              <a:t>竹陞科技 6739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ea typeface="Microsoft JhengHei"/>
              </a:rPr>
              <a:t>產品、供應鏈與工程競爭分析｜半導體 AI 智慧製造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ea typeface="Microsoft JhengHei"/>
              </a:rPr>
              <a:t>資料截止 2026-10-02｜股價基準 2026/09/30 收盤 NT$1,135｜比照《健策3653研究》架構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一頁結論：好公司、絕對估值偏滿、相對同業不貴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Impact" pitchFamily="34" charset="0"/>
                <a:ea typeface="Microsoft JhengHei" pitchFamily="34" charset="-122"/>
                <a:cs typeface="Impact" pitchFamily="34" charset="-120"/>
              </a:rPr>
              <a:t>+97%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2026 年 1–8 月營收 YoY（9.30 億元）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Impact" pitchFamily="34" charset="0"/>
                <a:ea typeface="Microsoft JhengHei" pitchFamily="34" charset="-122"/>
                <a:cs typeface="Impact" pitchFamily="34" charset="-120"/>
              </a:rPr>
              <a:t>58%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2026Q2 營益率；毛利率 66.8%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Impact" pitchFamily="34" charset="0"/>
                <a:ea typeface="Microsoft JhengHei" pitchFamily="34" charset="-122"/>
                <a:cs typeface="Impact" pitchFamily="34" charset="-120"/>
              </a:rPr>
              <a:t>983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Kevin 情境 A 目標價（−13.4%）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960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Impact" pitchFamily="34" charset="0"/>
                <a:ea typeface="Microsoft JhengHei" pitchFamily="34" charset="-122"/>
                <a:cs typeface="Impact" pitchFamily="34" charset="-120"/>
              </a:rPr>
              <a:t>1.08x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645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PE 相對同業中位數（毛利率 +36pp）</a:t>
            </a:r>
            <a:endParaRPr lang="en-US" sz="1100" dirty="0"/>
          </a:p>
        </p:txBody>
      </p:sp>
      <p:sp>
        <p:nvSpPr>
          <p:cNvPr id="11" name="card 多方"/>
          <p:cNvSpPr/>
          <p:nvPr/>
        </p:nvSpPr>
        <p:spPr>
          <a:xfrm>
            <a:off x="457200" y="2286000"/>
            <a:ext cx="40233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card text 多方"/>
          <p:cNvSpPr txBox="1"/>
          <p:nvPr/>
        </p:nvSpPr>
        <p:spPr>
          <a:xfrm>
            <a:off x="594360" y="2377440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多方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跨 82 品牌、512 機型整合，客戶標配、轉換成本高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先進封裝 48%、記憶體 27%、晶圓代工 23%，三條擴產線同時受惠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在手訂單能見度至 2027Q2；全年指引 15.3–16.1 億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GoVision 2025 年營收 +353%，第二成長曲線成形</a:t>
            </a:r>
            <a:endParaRPr lang="en-US" sz="1500" dirty="0"/>
          </a:p>
        </p:txBody>
      </p:sp>
      <p:sp>
        <p:nvSpPr>
          <p:cNvPr id="13" name="card 空方與判讀"/>
          <p:cNvSpPr/>
          <p:nvPr/>
        </p:nvSpPr>
        <p:spPr>
          <a:xfrm>
            <a:off x="4663440" y="2286000"/>
            <a:ext cx="4023360" cy="2331720"/>
          </a:xfrm>
          <a:prstGeom prst="roundRect">
            <a:avLst>
              <a:gd name="adj" fmla="val 313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4" name="card text 空方與判讀"/>
          <p:cNvSpPr txBox="1"/>
          <p:nvPr/>
        </p:nvSpPr>
        <p:spPr>
          <a:xfrm>
            <a:off x="4800600" y="2377440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ea typeface="Microsoft JhengHei"/>
              </a:rPr>
              <a:t>空方與判讀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1"/>
                </a:solidFill>
                <a:ea typeface="Microsoft JhengHei"/>
              </a:rPr>
              <a:t>前三大客戶占 96%，H 客戶 67%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1"/>
                </a:solidFill>
                <a:ea typeface="Microsoft JhengHei"/>
              </a:rPr>
              <a:t>設備原廠與晶圓廠自研是長期替代風險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1"/>
                </a:solidFill>
                <a:ea typeface="Microsoft JhengHei"/>
              </a:rPr>
              <a:t>情境 B 1,128（−0.6%）：現價已反映近月動能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bg1"/>
                </a:solidFill>
                <a:ea typeface="Microsoft JhengHei"/>
              </a:rPr>
              <a:t>判讀：中性偏多，回檔至 980–1,020 元風險報酬較佳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ea typeface="Microsoft JhengHei"/>
              </a:rPr>
              <a:t>公司與產品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ea typeface="Microsoft JhengHei"/>
              </a:rPr>
              <a:t>三條產品線、一個邊緣運算平台、跨品牌機台整合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公司快照</a:t>
            </a:r>
            <a:endParaRPr lang="en-US" sz="2600" dirty="0"/>
          </a:p>
        </p:txBody>
      </p:sp>
      <p:sp>
        <p:nvSpPr>
          <p:cNvPr id="3" name="card 基本資料"/>
          <p:cNvSpPr/>
          <p:nvPr/>
        </p:nvSpPr>
        <p:spPr>
          <a:xfrm>
            <a:off x="457200" y="96012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card text 基本資料"/>
          <p:cNvSpPr txBox="1"/>
          <p:nvPr/>
        </p:nvSpPr>
        <p:spPr>
          <a:xfrm>
            <a:off x="594360" y="10515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基本資料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2017 成立；2024/09/02 上櫃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董事長兼總經理 方泰又（前聯電黃光技術委員會召集人）</a:t>
            </a:r>
            <a:endParaRPr lang="en-US" sz="1500" dirty="0"/>
          </a:p>
        </p:txBody>
      </p:sp>
      <p:sp>
        <p:nvSpPr>
          <p:cNvPr id="5" name="card 股本與市值"/>
          <p:cNvSpPr/>
          <p:nvPr/>
        </p:nvSpPr>
        <p:spPr>
          <a:xfrm>
            <a:off x="3246120" y="96012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card text 股本與市值"/>
          <p:cNvSpPr txBox="1"/>
          <p:nvPr/>
        </p:nvSpPr>
        <p:spPr>
          <a:xfrm>
            <a:off x="3383280" y="10515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股本與市值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實收股本 2.339 億元（23.39 百萬股）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市值約 265 億元（1,135 元）</a:t>
            </a:r>
            <a:endParaRPr lang="en-US" sz="1500" dirty="0"/>
          </a:p>
        </p:txBody>
      </p:sp>
      <p:sp>
        <p:nvSpPr>
          <p:cNvPr id="7" name="card 獲利（2025）"/>
          <p:cNvSpPr/>
          <p:nvPr/>
        </p:nvSpPr>
        <p:spPr>
          <a:xfrm>
            <a:off x="6035040" y="96012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card text 獲利（2025）"/>
          <p:cNvSpPr txBox="1"/>
          <p:nvPr/>
        </p:nvSpPr>
        <p:spPr>
          <a:xfrm>
            <a:off x="6172200" y="10515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獲利（2025）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營收 8.06 億（+96.7%）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EPS 16.13 元；現金股利 13 元</a:t>
            </a:r>
            <a:endParaRPr lang="en-US" sz="1500" dirty="0"/>
          </a:p>
        </p:txBody>
      </p:sp>
      <p:sp>
        <p:nvSpPr>
          <p:cNvPr id="9" name="card 客戶結構（2025）"/>
          <p:cNvSpPr/>
          <p:nvPr/>
        </p:nvSpPr>
        <p:spPr>
          <a:xfrm>
            <a:off x="457200" y="224028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card text 客戶結構（2025）"/>
          <p:cNvSpPr txBox="1"/>
          <p:nvPr/>
        </p:nvSpPr>
        <p:spPr>
          <a:xfrm>
            <a:off x="594360" y="23317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客戶結構（2025）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H 客戶 67%、G 18%、I 11%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前三大合計 96%</a:t>
            </a:r>
            <a:endParaRPr lang="en-US" sz="1500" dirty="0"/>
          </a:p>
        </p:txBody>
      </p:sp>
      <p:sp>
        <p:nvSpPr>
          <p:cNvPr id="11" name="card 地區（2025）"/>
          <p:cNvSpPr/>
          <p:nvPr/>
        </p:nvSpPr>
        <p:spPr>
          <a:xfrm>
            <a:off x="3246120" y="224028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card text 地區（2025）"/>
          <p:cNvSpPr txBox="1"/>
          <p:nvPr/>
        </p:nvSpPr>
        <p:spPr>
          <a:xfrm>
            <a:off x="3383280" y="23317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地區（2025）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台灣 86%、新加坡 11%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中國 1%、其他 3%</a:t>
            </a:r>
            <a:endParaRPr lang="en-US" sz="1500" dirty="0"/>
          </a:p>
        </p:txBody>
      </p:sp>
      <p:sp>
        <p:nvSpPr>
          <p:cNvPr id="13" name="card 資產負債（2026/6/30）"/>
          <p:cNvSpPr/>
          <p:nvPr/>
        </p:nvSpPr>
        <p:spPr>
          <a:xfrm>
            <a:off x="6035040" y="224028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card text 資產負債（2026/6/30）"/>
          <p:cNvSpPr txBox="1"/>
          <p:nvPr/>
        </p:nvSpPr>
        <p:spPr>
          <a:xfrm>
            <a:off x="6172200" y="23317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資產負債（2026/6/30）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總資產 16.8 億、負債 6.5 億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無銀行借款；淨現金</a:t>
            </a:r>
            <a:endParaRPr lang="en-US" sz="1500" dirty="0"/>
          </a:p>
        </p:txBody>
      </p:sp>
      <p:sp>
        <p:nvSpPr>
          <p:cNvPr id="15" name="card 轉投資與治理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card text 轉投資與治理"/>
          <p:cNvSpPr txBox="1"/>
          <p:nvPr/>
        </p:nvSpPr>
        <p:spPr>
          <a:xfrm>
            <a:off x="594360" y="36118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轉投資與治理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5"/>
                </a:solidFill>
                <a:ea typeface="Microsoft JhengHei"/>
              </a:rPr>
              <a:t>竹阩智能數據（合肥）2025/12 清算；美國 G2 持股 50%（權益法，經營權由合資方指派）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5"/>
                </a:solidFill>
                <a:ea typeface="Microsoft JhengHei"/>
              </a:rPr>
              <a:t>2025 年向關係人竹駿科技購廠 3.40 億元（董事長任竹駿董事長），需追蹤用途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產品線營收：GoVision 一年從 14% 跳到 32%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解讀"/>
          <p:cNvSpPr/>
          <p:nvPr/>
        </p:nvSpPr>
        <p:spPr>
          <a:xfrm>
            <a:off x="5806440" y="960120"/>
            <a:ext cx="2880360" cy="361188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解讀"/>
          <p:cNvSpPr txBox="1"/>
          <p:nvPr/>
        </p:nvSpPr>
        <p:spPr>
          <a:xfrm>
            <a:off x="5943600" y="1051560"/>
            <a:ext cx="2606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解讀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GoVision +353%：AI 視覺／聽覺／嗅覺由光阻塗佈擴展到更多站點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AI 操作 +52%、IoT +60%：既有產品隨擴產同步成長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2026 年 1–8 月口徑：GoVision 36%、GoBot＋iRPA 34%、AIoT 30%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Agentic AI 53%／Physical AI 47%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系統架構：三條產品線共用邊緣運算平台</a:t>
            </a:r>
            <a:endParaRPr lang="en-US" sz="2600" dirty="0"/>
          </a:p>
        </p:txBody>
      </p:sp>
      <p:pic>
        <p:nvPicPr>
          <p:cNvPr id="3" name="01_系統架構總覽.png" descr="/home/user/kevin-stock-research-system/研究資料/TPEX-6739/工程圖解/PNG預覽/01_系統架構總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6112"/>
            <a:ext cx="5943600" cy="3343275"/>
          </a:xfrm>
          <a:prstGeom prst="rect">
            <a:avLst/>
          </a:prstGeom>
        </p:spPr>
      </p:pic>
      <p:sp>
        <p:nvSpPr>
          <p:cNvPr id="4" name="card 重點"/>
          <p:cNvSpPr/>
          <p:nvPr/>
        </p:nvSpPr>
        <p:spPr>
          <a:xfrm>
            <a:off x="6583680" y="896112"/>
            <a:ext cx="2103120" cy="3346704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重點"/>
          <p:cNvSpPr txBox="1"/>
          <p:nvPr/>
        </p:nvSpPr>
        <p:spPr>
          <a:xfrm>
            <a:off x="6720840" y="987552"/>
            <a:ext cx="18288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重點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機台端即時判斷（In-Process），減少回傳延遲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82 品牌、512 機型相容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上接 MES／EAP 與戰情室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GoBot＋iRPA：把 SOP 變成可複製的劇本</a:t>
            </a:r>
            <a:endParaRPr lang="en-US" sz="2600" dirty="0"/>
          </a:p>
        </p:txBody>
      </p:sp>
      <p:pic>
        <p:nvPicPr>
          <p:cNvPr id="3" name="02_iRPA劇本自動化流程.png" descr="/home/user/kevin-stock-research-system/研究資料/TPEX-6739/工程圖解/PNG預覽/02_iRPA劇本自動化流程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6112"/>
            <a:ext cx="5943600" cy="3343275"/>
          </a:xfrm>
          <a:prstGeom prst="rect">
            <a:avLst/>
          </a:prstGeom>
        </p:spPr>
      </p:pic>
      <p:sp>
        <p:nvSpPr>
          <p:cNvPr id="4" name="card 重點"/>
          <p:cNvSpPr/>
          <p:nvPr/>
        </p:nvSpPr>
        <p:spPr>
          <a:xfrm>
            <a:off x="6583680" y="896112"/>
            <a:ext cx="2103120" cy="3346704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重點"/>
          <p:cNvSpPr txBox="1"/>
          <p:nvPr/>
        </p:nvSpPr>
        <p:spPr>
          <a:xfrm>
            <a:off x="6720840" y="987552"/>
            <a:ext cx="18288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重點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影片自動轉劇本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機差微調後平展上千台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劇本越多、規模效益越大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400+ 種 Alarm 自動排除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GoVision：製程中 AI 感官監控</a:t>
            </a:r>
            <a:endParaRPr lang="en-US" sz="2600" dirty="0"/>
          </a:p>
        </p:txBody>
      </p:sp>
      <p:pic>
        <p:nvPicPr>
          <p:cNvPr id="3" name="03_GoVision光阻塗佈監控.png" descr="/home/user/kevin-stock-research-system/研究資料/TPEX-6739/工程圖解/PNG預覽/03_GoVision光阻塗佈監控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6112"/>
            <a:ext cx="5943600" cy="3343275"/>
          </a:xfrm>
          <a:prstGeom prst="rect">
            <a:avLst/>
          </a:prstGeom>
        </p:spPr>
      </p:pic>
      <p:sp>
        <p:nvSpPr>
          <p:cNvPr id="4" name="card 重點"/>
          <p:cNvSpPr/>
          <p:nvPr/>
        </p:nvSpPr>
        <p:spPr>
          <a:xfrm>
            <a:off x="6583680" y="896112"/>
            <a:ext cx="2103120" cy="3346704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重點"/>
          <p:cNvSpPr txBox="1"/>
          <p:nvPr/>
        </p:nvSpPr>
        <p:spPr>
          <a:xfrm>
            <a:off x="6720840" y="987552"/>
            <a:ext cx="18288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重點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已驗證：光阻塗佈軌跡追蹤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視覺偵測水平、裂痕破片、塗佈均勻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聽覺預警、嗅覺監控 VOC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2025 營收 2.58 億（+353%）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自動化演進：從人看機台到 AI 代理</a:t>
            </a:r>
            <a:endParaRPr lang="en-US" sz="2600" dirty="0"/>
          </a:p>
        </p:txBody>
      </p:sp>
      <p:pic>
        <p:nvPicPr>
          <p:cNvPr id="3" name="04_自動化演進四階段.png" descr="/home/user/kevin-stock-research-system/研究資料/TPEX-6739/工程圖解/PNG預覽/04_自動化演進四階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6112"/>
            <a:ext cx="5943600" cy="3343275"/>
          </a:xfrm>
          <a:prstGeom prst="rect">
            <a:avLst/>
          </a:prstGeom>
        </p:spPr>
      </p:pic>
      <p:sp>
        <p:nvSpPr>
          <p:cNvPr id="4" name="card 重點"/>
          <p:cNvSpPr/>
          <p:nvPr/>
        </p:nvSpPr>
        <p:spPr>
          <a:xfrm>
            <a:off x="6583680" y="896112"/>
            <a:ext cx="2103120" cy="3346704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重點"/>
          <p:cNvSpPr txBox="1"/>
          <p:nvPr/>
        </p:nvSpPr>
        <p:spPr>
          <a:xfrm>
            <a:off x="6720840" y="987552"/>
            <a:ext cx="18288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重點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越往右人員介入越少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預測性維護由選配轉標配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人力節省比例為報導數字，非公司揭露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ea typeface="Microsoft JhengHei"/>
              </a:rPr>
              <a:t>供應鏈與競爭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ea typeface="Microsoft JhengHei"/>
              </a:rPr>
              <a:t>設備原廠與晶圓廠之間的後裝智慧化層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價值鏈位置：不賣機台，賣跨品牌整合</a:t>
            </a:r>
            <a:endParaRPr lang="en-US" sz="2600" dirty="0"/>
          </a:p>
        </p:txBody>
      </p:sp>
      <p:pic>
        <p:nvPicPr>
          <p:cNvPr id="3" name="07_產業價值鏈位置.png" descr="/home/user/kevin-stock-research-system/研究資料/TPEX-6739/工程圖解/PNG預覽/07_產業價值鏈位置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6112"/>
            <a:ext cx="5943600" cy="3343275"/>
          </a:xfrm>
          <a:prstGeom prst="rect">
            <a:avLst/>
          </a:prstGeom>
        </p:spPr>
      </p:pic>
      <p:sp>
        <p:nvSpPr>
          <p:cNvPr id="4" name="card 判讀"/>
          <p:cNvSpPr/>
          <p:nvPr/>
        </p:nvSpPr>
        <p:spPr>
          <a:xfrm>
            <a:off x="6583680" y="896112"/>
            <a:ext cx="2103120" cy="3346704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判讀"/>
          <p:cNvSpPr txBox="1"/>
          <p:nvPr/>
        </p:nvSpPr>
        <p:spPr>
          <a:xfrm>
            <a:off x="6720840" y="987552"/>
            <a:ext cx="18288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判讀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上游為通用感測與工控元件，議價壓力低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下游集中在晶圓代工、記憶體、先進封裝大廠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最大威脅來自設備原廠自行智慧化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導入流程：Early Involvement → 標配 → Copy</a:t>
            </a:r>
            <a:endParaRPr lang="en-US" sz="2600" dirty="0"/>
          </a:p>
        </p:txBody>
      </p:sp>
      <p:pic>
        <p:nvPicPr>
          <p:cNvPr id="3" name="06_導入流程與商業模式.png" descr="/home/user/kevin-stock-research-system/研究資料/TPEX-6739/工程圖解/PNG預覽/06_導入流程與商業模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6112"/>
            <a:ext cx="5943600" cy="3343275"/>
          </a:xfrm>
          <a:prstGeom prst="rect">
            <a:avLst/>
          </a:prstGeom>
        </p:spPr>
      </p:pic>
      <p:sp>
        <p:nvSpPr>
          <p:cNvPr id="4" name="card 商業模式"/>
          <p:cNvSpPr/>
          <p:nvPr/>
        </p:nvSpPr>
        <p:spPr>
          <a:xfrm>
            <a:off x="6583680" y="896112"/>
            <a:ext cx="2103120" cy="3346704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商業模式"/>
          <p:cNvSpPr txBox="1"/>
          <p:nvPr/>
        </p:nvSpPr>
        <p:spPr>
          <a:xfrm>
            <a:off x="6720840" y="987552"/>
            <a:ext cx="18288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商業模式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Pilot Run 即參與，量產後成標配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隨客戶擴廠複製到新加坡、美國、日本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收入於驗收時點認列；合約負債 0.82 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客戶與地區：集中度是最大風險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91440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競爭格局：威脅來自原廠與客戶自建</a:t>
            </a:r>
            <a:endParaRPr lang="en-US" sz="26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82296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競爭／替代來源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代表者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威脅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竹陞的差異化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設備原廠智慧化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Applied Materials、Lam、TEL、KLA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高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跨品牌、跨世代整合；舊機台改造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晶圓廠自研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台積電、美光內部團隊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已是標配、裝機基礎 7–8 千台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國際工業自動化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Siemens、Rockwell、Schneider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低到中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半導體製程 know-how 深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台灣整合商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盟立 2464、迅得 6438、帆宣 6196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低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機台端操作與監測，毛利率 65%+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</a:tbl>
          </a:graphicData>
        </a:graphic>
      </p:graphicFrame>
      <p:sp>
        <p:nvSpPr>
          <p:cNvPr id="4" name="card 觀察指標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觀察指標"/>
          <p:cNvSpPr txBox="1"/>
          <p:nvPr/>
        </p:nvSpPr>
        <p:spPr>
          <a:xfrm>
            <a:off x="594360" y="352044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觀察指標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新產線標配率與相容機型數是否持續增加；設備原廠是否在新機台內建同等功能；H 客戶占比是否下降（客戶分散）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ea typeface="Microsoft JhengHei"/>
              </a:rPr>
              <a:t>財務與估值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ea typeface="Microsoft JhengHei"/>
              </a:rPr>
              <a:t>營業槓桿、Kevin 雙層錨定模型、同業相對估值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月營收：連 15 個月創新高，YoY 維持近倍增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指引與驗證"/>
          <p:cNvSpPr/>
          <p:nvPr/>
        </p:nvSpPr>
        <p:spPr>
          <a:xfrm>
            <a:off x="6492240" y="960120"/>
            <a:ext cx="2194560" cy="36118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指引與驗證"/>
          <p:cNvSpPr txBox="1"/>
          <p:nvPr/>
        </p:nvSpPr>
        <p:spPr>
          <a:xfrm>
            <a:off x="6629400" y="1051560"/>
            <a:ext cx="1920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指引與驗證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Q3 營收 QoQ +21～24%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→ 9 月需 1.49–1.60 億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全年 15.3–16.1 億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→ 9–12 月月均 1.50–1.70 億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10/10 前公布 9 月營收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三率：營業槓桿推升營益率到 58%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2026H1 盈餘品質"/>
          <p:cNvSpPr/>
          <p:nvPr/>
        </p:nvSpPr>
        <p:spPr>
          <a:xfrm>
            <a:off x="6492240" y="960120"/>
            <a:ext cx="2194560" cy="36118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2026H1 盈餘品質"/>
          <p:cNvSpPr txBox="1"/>
          <p:nvPr/>
        </p:nvSpPr>
        <p:spPr>
          <a:xfrm>
            <a:off x="6629400" y="1051560"/>
            <a:ext cx="1920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2026H1 盈餘品質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營收 6.44 億、淨利 3.11 億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業外占稅前 2.2%（利息收入）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無少數股權，W＝1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費用率 14.1% → 8.9%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有效稅率 19.5%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Kevin 雙層錨定模型（潛力股，00935）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Impact" pitchFamily="34" charset="0"/>
                <a:ea typeface="Microsoft JhengHei" pitchFamily="34" charset="-122"/>
                <a:cs typeface="Impact" pitchFamily="34" charset="-120"/>
              </a:rPr>
              <a:t>983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情境 A 目標價（1–8 月年化）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914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Impact" pitchFamily="34" charset="0"/>
                <a:ea typeface="Microsoft JhengHei" pitchFamily="34" charset="-122"/>
                <a:cs typeface="Impact" pitchFamily="34" charset="-120"/>
              </a:rPr>
              <a:t>1,128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情境 B 目標價（近月動能）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914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Impact" pitchFamily="34" charset="0"/>
                <a:ea typeface="Microsoft JhengHei" pitchFamily="34" charset="-122"/>
                <a:cs typeface="Impact" pitchFamily="34" charset="-120"/>
              </a:rPr>
              <a:t>1,160–1,254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參考：代入公司全年指引</a:t>
            </a:r>
            <a:endParaRPr lang="en-US" sz="11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120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項目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情境 A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情境 B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年化營收（千元）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1,395,321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1,502,676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淨利率 H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48.22%（H1）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48.93%（Q2）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預期 EPS 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28.76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31.43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成長率 O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+78.3%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+94.9%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P／Q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32.69／35.69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33.58／38.19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目標價 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983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1,128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空間 V（對 1,135）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−13.4%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323A"/>
                          </a:solidFill>
                          <a:ea typeface="Microsoft JhengHei"/>
                        </a:rPr>
                        <a:t>−0.6%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ard 輸入與口徑"/>
          <p:cNvSpPr/>
          <p:nvPr/>
        </p:nvSpPr>
        <p:spPr>
          <a:xfrm>
            <a:off x="5806440" y="2148840"/>
            <a:ext cx="28803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card text 輸入與口徑"/>
          <p:cNvSpPr txBox="1"/>
          <p:nvPr/>
        </p:nvSpPr>
        <p:spPr>
          <a:xfrm>
            <a:off x="5943600" y="224028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輸入與口徑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5"/>
                </a:solidFill>
                <a:ea typeface="Microsoft JhengHei"/>
              </a:rPr>
              <a:t>E＝930,214 千元（1–8 月）、n＝8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5"/>
                </a:solidFill>
                <a:ea typeface="Microsoft JhengHei"/>
              </a:rPr>
              <a:t>H＝合併淨利率；W＝1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5"/>
                </a:solidFill>
                <a:ea typeface="Microsoft JhengHei"/>
              </a:rPr>
              <a:t>I＝2.33925 億；J＝2025 EPS 16.13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5"/>
                </a:solidFill>
                <a:ea typeface="Microsoft JhengHei"/>
              </a:rPr>
              <a:t>base_P／Q＝23.8425／17.391（2026-09-11 錨定）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5"/>
                </a:solidFill>
                <a:ea typeface="Microsoft JhengHei"/>
              </a:rPr>
              <a:t>業外 2.2% &lt; 5%，採帳面 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同業相對估值：品質第一，估值只略高於中位數</a:t>
            </a:r>
            <a:endParaRPr lang="en-US" sz="26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097280"/>
                <a:gridCol w="82296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公司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收盤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PE（TTM）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PB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毛利率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淨利率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1–8 月 YoY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竹陞 6739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1,135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47.8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25.7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67.5%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48.2%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+97.1%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萬潤 6187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1,280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65.3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14.8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53.7%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30.2%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+51.1%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弘塑 3131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2,525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44.3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23.4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36.4%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23.6%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+22.9%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盟立 2464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196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478（離群值）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7.1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20.6%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3.4%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+31.4%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迅得 6438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164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28.5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2.1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26.1%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8.5%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+11.5%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同業中位數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44.3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10.9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31.3%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16.1%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+27.2%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</a:tbl>
          </a:graphicData>
        </a:graphic>
      </p:graphicFrame>
      <p:sp>
        <p:nvSpPr>
          <p:cNvPr id="4" name="card 相對指標"/>
          <p:cNvSpPr/>
          <p:nvPr/>
        </p:nvSpPr>
        <p:spPr>
          <a:xfrm>
            <a:off x="457200" y="34290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ard text 相對指標"/>
          <p:cNvSpPr txBox="1"/>
          <p:nvPr/>
        </p:nvSpPr>
        <p:spPr>
          <a:xfrm>
            <a:off x="59436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相對指標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RelPE 1.08（合理）；前瞻 0.89／0.81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  <a:ea typeface="Microsoft JhengHei"/>
              </a:rPr>
              <a:t>毛利率 +36.2pp；營收成長 +69.9pp</a:t>
            </a:r>
            <a:endParaRPr lang="en-US" sz="1500" dirty="0"/>
          </a:p>
        </p:txBody>
      </p:sp>
      <p:sp>
        <p:nvSpPr>
          <p:cNvPr id="6" name="card 盈餘品質修正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card text 盈餘品質修正"/>
          <p:cNvSpPr txBox="1"/>
          <p:nvPr/>
        </p:nvSpPr>
        <p:spPr>
          <a:xfrm>
            <a:off x="480060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ea typeface="Microsoft JhengHei"/>
              </a:rPr>
              <a:t>盈餘品質修正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  <a:ea typeface="Microsoft JhengHei"/>
              </a:rPr>
              <a:t>萬潤業外占稅前 17.3%、弘塑 41.7%（一次性）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  <a:ea typeface="Microsoft JhengHei"/>
              </a:rPr>
              <a:t>同業本業 PE 更高，竹陞相對更便宜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ea typeface="Microsoft JhengHei"/>
              </a:rPr>
              <a:t>風險與追蹤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ea typeface="Microsoft JhengHei"/>
              </a:rPr>
              <a:t>客戶集中、替代風險、估值波動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風險矩陣</a:t>
            </a:r>
            <a:endParaRPr lang="en-US" sz="26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8229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風險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說明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嚴重度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a typeface="Microsoft JhengHei"/>
                        </a:rPr>
                        <a:t>追蹤指標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客戶集中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H 客戶 67%、前三大 96%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高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年報主要客戶、海外廠導入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估值與流動性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股本 2.34 億；4 月 1,760 → 7 月 764（−56.6%）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高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融資使用率、法人買賣超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原廠／客戶替代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設備商內建、晶圓廠自研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新產線標配率、相容機型數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資本支出循環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記憶體、先進封裝擴產放緩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客戶 capex、在手訂單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毛利率與費用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新總部折舊、擴編研發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Q3 毛利率是否 67–69%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23A"/>
                          </a:solidFill>
                          <a:ea typeface="Microsoft JhengHei"/>
                        </a:rPr>
                        <a:t>關係人交易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向竹駿購廠 3.40 億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低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23A"/>
                          </a:solidFill>
                          <a:ea typeface="Microsoft JhengHei"/>
                        </a:rPr>
                        <a:t>廠房用途與後續交易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ea typeface="Microsoft JhengHei"/>
              </a:rPr>
              <a:t>催化劑時間軸</a:t>
            </a:r>
            <a:endParaRPr lang="en-US" sz="2600" dirty="0"/>
          </a:p>
        </p:txBody>
      </p:sp>
      <p:sp>
        <p:nvSpPr>
          <p:cNvPr id="3" name="dot 0"/>
          <p:cNvSpPr/>
          <p:nvPr/>
        </p:nvSpPr>
        <p:spPr>
          <a:xfrm>
            <a:off x="123444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conn 0"/>
          <p:cNvSpPr/>
          <p:nvPr/>
        </p:nvSpPr>
        <p:spPr>
          <a:xfrm>
            <a:off x="1600200" y="1417320"/>
            <a:ext cx="17373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5" name="card 10/10 前"/>
          <p:cNvSpPr/>
          <p:nvPr/>
        </p:nvSpPr>
        <p:spPr>
          <a:xfrm>
            <a:off x="457200" y="182880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card text 10/10 前"/>
          <p:cNvSpPr txBox="1"/>
          <p:nvPr/>
        </p:nvSpPr>
        <p:spPr>
          <a:xfrm>
            <a:off x="594360" y="19202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ea typeface="Microsoft JhengHei"/>
              </a:rPr>
              <a:t>10/10 前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ea typeface="Microsoft JhengHei"/>
              </a:rPr>
              <a:t>9 月營收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ea typeface="Microsoft JhengHei"/>
              </a:rPr>
              <a:t>≥ 1.49 億達指引</a:t>
            </a:r>
            <a:endParaRPr lang="en-US" sz="1600" dirty="0"/>
          </a:p>
        </p:txBody>
      </p:sp>
      <p:sp>
        <p:nvSpPr>
          <p:cNvPr id="7" name="dot 1"/>
          <p:cNvSpPr/>
          <p:nvPr/>
        </p:nvSpPr>
        <p:spPr>
          <a:xfrm>
            <a:off x="333756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conn 1"/>
          <p:cNvSpPr/>
          <p:nvPr/>
        </p:nvSpPr>
        <p:spPr>
          <a:xfrm>
            <a:off x="3703320" y="1417320"/>
            <a:ext cx="17373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9" name="card 11 月中"/>
          <p:cNvSpPr/>
          <p:nvPr/>
        </p:nvSpPr>
        <p:spPr>
          <a:xfrm>
            <a:off x="2560320" y="182880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card text 11 月中"/>
          <p:cNvSpPr txBox="1"/>
          <p:nvPr/>
        </p:nvSpPr>
        <p:spPr>
          <a:xfrm>
            <a:off x="2697480" y="19202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ea typeface="Microsoft JhengHei"/>
              </a:rPr>
              <a:t>11 月中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ea typeface="Microsoft JhengHei"/>
              </a:rPr>
              <a:t>Q3 財報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ea typeface="Microsoft JhengHei"/>
              </a:rPr>
              <a:t>營益率 58–60%</a:t>
            </a:r>
            <a:endParaRPr lang="en-US" sz="1600" dirty="0"/>
          </a:p>
        </p:txBody>
      </p:sp>
      <p:sp>
        <p:nvSpPr>
          <p:cNvPr id="11" name="dot 2"/>
          <p:cNvSpPr/>
          <p:nvPr/>
        </p:nvSpPr>
        <p:spPr>
          <a:xfrm>
            <a:off x="544068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conn 2"/>
          <p:cNvSpPr/>
          <p:nvPr/>
        </p:nvSpPr>
        <p:spPr>
          <a:xfrm>
            <a:off x="5806440" y="1417320"/>
            <a:ext cx="17373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card 2026Q4"/>
          <p:cNvSpPr/>
          <p:nvPr/>
        </p:nvSpPr>
        <p:spPr>
          <a:xfrm>
            <a:off x="4663440" y="182880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card text 2026Q4"/>
          <p:cNvSpPr txBox="1"/>
          <p:nvPr/>
        </p:nvSpPr>
        <p:spPr>
          <a:xfrm>
            <a:off x="4800600" y="19202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ea typeface="Microsoft JhengHei"/>
              </a:rPr>
              <a:t>2026Q4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ea typeface="Microsoft JhengHei"/>
              </a:rPr>
              <a:t>新竹總部、法說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ea typeface="Microsoft JhengHei"/>
              </a:rPr>
              <a:t>2027 成長指引</a:t>
            </a:r>
            <a:endParaRPr lang="en-US" sz="1600" dirty="0"/>
          </a:p>
        </p:txBody>
      </p:sp>
      <p:sp>
        <p:nvSpPr>
          <p:cNvPr id="15" name="dot 3"/>
          <p:cNvSpPr/>
          <p:nvPr/>
        </p:nvSpPr>
        <p:spPr>
          <a:xfrm>
            <a:off x="754380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card 2027"/>
          <p:cNvSpPr/>
          <p:nvPr/>
        </p:nvSpPr>
        <p:spPr>
          <a:xfrm>
            <a:off x="6766560" y="182880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7" name="card text 2027"/>
          <p:cNvSpPr txBox="1"/>
          <p:nvPr/>
        </p:nvSpPr>
        <p:spPr>
          <a:xfrm>
            <a:off x="6903720" y="19202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ea typeface="Microsoft JhengHei"/>
              </a:rPr>
              <a:t>2027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ea typeface="Microsoft JhengHei"/>
              </a:rPr>
              <a:t>海外廠導入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ea typeface="Microsoft JhengHei"/>
              </a:rPr>
              <a:t>非台灣營收占比</a:t>
            </a:r>
            <a:endParaRPr lang="en-US" sz="1600" dirty="0"/>
          </a:p>
        </p:txBody>
      </p:sp>
      <p:sp>
        <p:nvSpPr>
          <p:cNvPr id="18" name="card 資料缺口（待本機 plugin 補齊）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9" name="card text 資料缺口（待本機 plugin 補齊）"/>
          <p:cNvSpPr txBox="1"/>
          <p:nvPr/>
        </p:nvSpPr>
        <p:spPr>
          <a:xfrm>
            <a:off x="594360" y="361188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ea typeface="Microsoft JhengHei"/>
              </a:rPr>
              <a:t>資料缺口（待本機 plugin 補齊）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accent5"/>
                </a:solidFill>
                <a:ea typeface="Microsoft JhengHei"/>
              </a:rPr>
              <a:t>法說會簡報原件、2026Q1／2025Q1 季報、2024 年報、股東會議事手冊；年報 p.77–101 產銷與原料章節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ea typeface="Microsoft JhengHei"/>
              </a:rPr>
              <a:t>結論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ea typeface="Microsoft JhengHei"/>
              </a:rPr>
              <a:t>竹陞是半導體擴產的「後裝智慧化」標配廠，2026 年成長已被定價；下一步看 2027 年成長能否維持 30% 以上與客戶分散。本簡報為 Kevin 個人模型試算與研究整理，非投資建議。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vin 07 Teal Trust">
  <a:themeElements>
    <a:clrScheme name="Kevin 07 Teal Trust">
      <a:dk1>
        <a:srgbClr val="14323A"/>
      </a:dk1>
      <a:lt1>
        <a:srgbClr val="FFFFFF"/>
      </a:lt1>
      <a:dk2>
        <a:srgbClr val="028090"/>
      </a:dk2>
      <a:lt2>
        <a:srgbClr val="E6F4F4"/>
      </a:lt2>
      <a:accent1>
        <a:srgbClr val="028090"/>
      </a:accent1>
      <a:accent2>
        <a:srgbClr val="00A896"/>
      </a:accent2>
      <a:accent3>
        <a:srgbClr val="02C39A"/>
      </a:accent3>
      <a:accent4>
        <a:srgbClr val="C2410C"/>
      </a:accent4>
      <a:accent5>
        <a:srgbClr val="5B7077"/>
      </a:accent5>
      <a:accent6>
        <a:srgbClr val="9FB7BC"/>
      </a:accent6>
      <a:hlink>
        <a:srgbClr val="028090"/>
      </a:hlink>
      <a:folHlink>
        <a:srgbClr val="00A896"/>
      </a:folHlink>
    </a:clrScheme>
    <a:fontScheme name="Kevin 07 Teal Trust">
      <a:majorFont>
        <a:latin typeface="Impact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竹陞 6739 產品、供應鏈與工程競爭分析</dc:title>
  <dc:subject>PptxGenJS Presentation</dc:subject>
  <dc:creator>Kevin Research</dc:creator>
  <cp:lastModifiedBy>Kevin Research</cp:lastModifiedBy>
  <cp:revision>1</cp:revision>
  <dcterms:created xsi:type="dcterms:W3CDTF">2026-10-02T06:16:11Z</dcterms:created>
  <dcterms:modified xsi:type="dcterms:W3CDTF">2026-10-02T06:16:11Z</dcterms:modified>
</cp:coreProperties>
</file>