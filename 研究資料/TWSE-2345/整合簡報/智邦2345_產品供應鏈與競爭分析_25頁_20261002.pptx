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1H26 營收（億元）</c:v>
                </c:pt>
              </c:strCache>
            </c:strRef>
          </c:tx>
          <c:dPt>
            <c:idx val="0"/>
            <c:spPr>
              <a:solidFill>
                <a:srgbClr val="028090"/>
              </a:solidFill>
            </c:spPr>
          </c:dPt>
          <c:dPt>
            <c:idx val="1"/>
            <c:spPr>
              <a:solidFill>
                <a:srgbClr val="00A896"/>
              </a:solidFill>
            </c:spPr>
          </c:dPt>
          <c:dPt>
            <c:idx val="2"/>
            <c:spPr>
              <a:solidFill>
                <a:srgbClr val="9FB7BC"/>
              </a:solidFill>
            </c:spPr>
          </c:dPt>
          <c:cat>
            <c:strRef>
              <c:f>Sheet1!$A$2:$A$4</c:f>
              <c:strCache>
                <c:ptCount val="3"/>
                <c:pt idx="0">
                  <c:v>網路交換器</c:v>
                </c:pt>
                <c:pt idx="1">
                  <c:v>網路應用設備</c:v>
                </c:pt>
                <c:pt idx="2">
                  <c:v>其他三類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830.6</c:v>
                </c:pt>
                <c:pt idx="1">
                  <c:v>782.2</c:v>
                </c:pt>
                <c:pt idx="2">
                  <c:v>43.8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營收（NT$ 億元）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1H25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Sheet1!$A$2:$A$4</c:f>
              <c:strCache>
                <c:ptCount val="3"/>
                <c:pt idx="0">
                  <c:v>網路交換器</c:v>
                </c:pt>
                <c:pt idx="1">
                  <c:v>網路應用設備</c:v>
                </c:pt>
                <c:pt idx="2">
                  <c:v>其他三類合計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402.4</c:v>
                </c:pt>
                <c:pt idx="1">
                  <c:v>600.4</c:v>
                </c:pt>
                <c:pt idx="2">
                  <c:v>30.7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1H26</c:v>
                </c:pt>
              </c:strCache>
            </c:strRef>
          </c:tx>
          <c:spPr>
            <a:solidFill>
              <a:srgbClr val="00A896"/>
            </a:solidFill>
          </c:spPr>
          <c:cat>
            <c:strRef>
              <c:f>Sheet1!$A$2:$A$4</c:f>
              <c:strCache>
                <c:ptCount val="3"/>
                <c:pt idx="0">
                  <c:v>網路交換器</c:v>
                </c:pt>
                <c:pt idx="1">
                  <c:v>網路應用設備</c:v>
                </c:pt>
                <c:pt idx="2">
                  <c:v>其他三類合計</c:v>
                </c:pt>
              </c:strCache>
            </c:strRef>
          </c:cat>
          <c:val>
            <c:numRef>
              <c:f>Sheet1!$C$2:$C$4</c:f>
              <c:numCache>
                <c:formatCode>#,##0.0</c:formatCode>
                <c:ptCount val="3"/>
                <c:pt idx="0">
                  <c:v>830.6</c:v>
                </c:pt>
                <c:pt idx="1">
                  <c:v>782.2</c:v>
                </c:pt>
                <c:pt idx="2">
                  <c:v>43.8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存貨（億元）</c:v>
                </c:pt>
              </c:strCache>
            </c:strRef>
          </c:tx>
          <c:spPr>
            <a:solidFill>
              <a:srgbClr val="028090"/>
            </a:solidFill>
          </c:spPr>
          <c:cat>
            <c:strRef>
              <c:f>Sheet1!$A$2:$A$4</c:f>
              <c:strCache>
                <c:ptCount val="3"/>
                <c:pt idx="0">
                  <c:v>2025/6/30</c:v>
                </c:pt>
                <c:pt idx="1">
                  <c:v>2025/12/31</c:v>
                </c:pt>
                <c:pt idx="2">
                  <c:v>2026/6/30</c:v>
                </c:pt>
              </c:strCache>
            </c:strRef>
          </c:cat>
          <c:val>
            <c:numRef>
              <c:f>Sheet1!$B$2:$B$4</c:f>
              <c:numCache>
                <c:formatCode>#,##0.0</c:formatCode>
                <c:ptCount val="3"/>
                <c:pt idx="0">
                  <c:v>262.0</c:v>
                </c:pt>
                <c:pt idx="1">
                  <c:v>302.0</c:v>
                </c:pt>
                <c:pt idx="2">
                  <c:v>769.3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2926080" cy="7315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731520" y="1554480"/>
            <a:ext cx="10728655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  <a:latin typeface="Impact"/>
                <a:ea typeface="Microsoft JhengHei"/>
                <a:cs typeface="Microsoft JhengHei"/>
              </a:rPr>
              <a:t>智邦 2345｜資料中心交換器與 AI 網路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產品供應鏈與競爭分析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資料截止 2026-10-02｜產業模組 datacenter-networking｜Kevin 模型情境 A／B ｜ 2026-10-02 ｜ 非投資建議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結論：成長來自交換器換代與 AI 網路，估值仍有空間但集中度高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p.6、p.32；2024 年報（MOPS F04） p.82；Kevin 模型 2026-10-02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1,657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營收（億元）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年增 60.3%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983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34.70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EPS（元）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年增 90.9%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2,265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Kevin 情境 A（元）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較 10/1 收盤 1,900 元 +19%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463040"/>
            <a:ext cx="2567863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351" y="1645920"/>
            <a:ext cx="2293543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47%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743200"/>
            <a:ext cx="2293543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最大客戶占比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51" y="3200400"/>
            <a:ext cx="2293543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2025Q1；2023 年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交換器 1H26 營收 830.6 億、年增 106%，重回營收過半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風險集中在單一客戶與存貨：1H26 存貨 769.3 億、營業現金流 −154.5 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投資論點：三個成長來源，一個需要盯緊的風險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p.1、p.71、p.82；115Q2 合併財報（MOPS 202602 AI1） p.6、p.32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498079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800G／51.2T 交換器放量，102.4T／1.6T 為下一個換代點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2024 年報：51.2T 與 800G 獲廣泛採用，推動 102T 與 1.6T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AI 後端網路與運算卡：DDC 架構可擴展至 32K GPU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– 網路應用設備 1H26 營收 782.2 億、年增 30%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規模攤薄費用：營益率 13.6% → 14.7%（1H25 → 1H26）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風險：最大客戶占比 47%，世代轉換備料使現金流轉負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看營益率與存貨去化，不只看毛利率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公司與產品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全球白牌資料中心交換器龍頭，從 ODM 走向 JDM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產品組合：交換器與網路應用設備各占約一半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p.32（客戶合約收入之細分）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5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交換器占 50.1%、網路應用設備占 47.2%；其他三類＝網路接取、無線網路、其他，合計 2.6%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交換器年增 106%，成為 1H26 成長主力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6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其他三類＝網路接取、無線網路、其他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單季走勢：營收與獲利率逐季墊高，4Q25 待年度財報補齊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來源：2025Q2 合併季報 p.6、2025Q3 合併季報 p.6、115Q2 合併財報 p.6；1Q 為 1H 減 Q2 推算；4Q25 缺 2025 年度財報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7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季度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營收（億）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毛利率（營業毛利）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營益率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EPS（元）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606.0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17.9%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13.4%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9.01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3Q25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4Q25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N/A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1Q26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701.2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2Q26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955.4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15.0%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19.78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商業模式：四大支柱讓智邦從代工延伸到共同設計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p.1–2、p.71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8 /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ODM 服務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依客戶規格設計與量產，核心是 DFM 與交期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JDM 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與 hyperscaler 共同設計硬體與開放軟體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1325880"/>
            <a:ext cx="2567863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5887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開放基礎架構部門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開放網路設備與軟體，拓展企業與電信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5191" y="1325880"/>
            <a:ext cx="2567863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5875">
            <a:solidFill>
              <a:srgbClr val="9FB7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5191" y="1325880"/>
            <a:ext cx="2567863" cy="9144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8071" y="1554480"/>
            <a:ext cx="2202103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戰略技術投入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2377440"/>
            <a:ext cx="2202103" cy="3566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5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AI 運算、CXL、液冷與 1.6T 光互連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工程圖解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6 張示意圖，來源頁碼標在頁腳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產品架構：交換晶片與高速走線決定世代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p.1、p.67–68、p.71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10 / 25</a:t>
            </a:r>
          </a:p>
        </p:txBody>
      </p:sp>
      <p:pic>
        <p:nvPicPr>
          <p:cNvPr id="8" name="Picture 7" descr="01_資料中心交換器產品架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51.2T／800G 世代示意，規格為產業通用配置（研究推論）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產品落點：AI 後端 fabric 是前端交換器之外的新增量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p.68、p.71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11 / 25</a:t>
            </a:r>
          </a:p>
        </p:txBody>
      </p:sp>
      <p:pic>
        <p:nvPicPr>
          <p:cNvPr id="8" name="Picture 7" descr="02_資料中心網路拓撲與產品落點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實心框為智邦已揭露的產品類別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速率世代：800G 已放量，1.6T 是下一個換代點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p.1；115Q2 合併財報（MOPS 202602 AI1） 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12 / 25</a:t>
            </a:r>
          </a:p>
        </p:txBody>
      </p:sp>
      <p:pic>
        <p:nvPicPr>
          <p:cNvPr id="8" name="Picture 7" descr="03_速率世代路線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CPO／LPO 未見公司公告出貨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商業模式：JDM 共同設計＋台越美三地製造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p.1–2、p.72；115Q2 合併財報（MOPS 202602 AI1） p.20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13 / 25</a:t>
            </a:r>
          </a:p>
        </p:txBody>
      </p:sp>
      <p:pic>
        <p:nvPicPr>
          <p:cNvPr id="8" name="Picture 7" descr="04_ODM_JDM商業模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流程為一般 JDM 模式示意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價值鏈：中游整合，客戶集中度快速升高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p.69、p.76、p.82；115Q2 合併財報（MOPS 202602 AI1） 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14 / 25</a:t>
            </a:r>
          </a:p>
        </p:txBody>
      </p:sp>
      <p:pic>
        <p:nvPicPr>
          <p:cNvPr id="8" name="Picture 7" descr="05_產業價值鏈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客戶以年報代號揭露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財務結構：毛利率受交貨模式影響，營益率與現金流才是重點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p.5–6、p.9–10、p.32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15 / 25</a:t>
            </a:r>
          </a:p>
        </p:txBody>
      </p:sp>
      <p:pic>
        <p:nvPicPr>
          <p:cNvPr id="8" name="Picture 7" descr="06_料件轉嫁與營運資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7" y="1188720"/>
            <a:ext cx="7965439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42432"/>
            <a:ext cx="11094415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1H25 → 1H26，NT$ 億元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供應鏈與競爭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白牌 ODM／JDM 與品牌分開比較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集中度：最大客戶從 20% 升到 47%，美洲占營收八成以上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p.76、p.82；115Q2 合併財報（MOPS 202602 AI1） p.32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17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2023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2024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最新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最大銷貨客戶（甲）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47%（2025Q1）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第二大客戶（乙）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10%（2025Q1）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最大供應商（A）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10.4%（2025Q1）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銷售地區：美洲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71%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74%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83.8%（1H26）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同業：智邦獲利率高於白牌同業 Celestica，本益比較低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來源：Bigdata.com（FMP）2026-10-01 收盤與 TTM；智邦毛利率、淨利率取 115Q2 合併財報 1H26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18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可比性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P/E（TTM）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毛利率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淨利率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1H26 營收年增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智邦 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Celestica CLS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白牌，直接可比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38.3x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6.6%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57.8%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Arista ANET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品牌，僅參考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63.7x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啟碁 6285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相鄰 ODM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25.6x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13.0%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22.8%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5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競爭格局：白牌在 hyperscaler 份額擴大，但換代與客戶轉單是共同風險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來源：2024 年報（MOPS F04） p.77（市場占有率）；Bigdata.com（FMP）2026-10-01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品牌陣營：Cisco 占 2024Q3 全球乙太網交換器營收 37.2%、Arista 13.6%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白牌陣營直接對手為 Celestica；智邦獲利率較高、成長相近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同業規則：品牌毛利含軟體與服務，倍數不直接套用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交換晶片與光模組供應商不列同業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914400" y="2377440"/>
            <a:ext cx="10362895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40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財務與估值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8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Kevin 雙層錨定（CPO 類 00891）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損益：營收年增 60%，費用率下降讓營益率擴大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p.6、p.33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21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1H25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1H26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年增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營收（億）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1,033.6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1,656.6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毛利率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18.9%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19.6%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+0.8 pp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費用率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−0.3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營益率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13.6%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14.7%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+1.2 pp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業外占稅前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−8.7%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合併淨利（億）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101.4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193.8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91.2%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EPS（元）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18.18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營運資金：存貨半年內增加 467 億，現金流轉負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p.5、p.9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22 / 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21040" y="1325880"/>
            <a:ext cx="3410712" cy="475488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463040"/>
            <a:ext cx="3044952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1">
                <a:solidFill>
                  <a:srgbClr val="028090"/>
                </a:solidFill>
                <a:latin typeface="Impact"/>
                <a:ea typeface="Microsoft JhengHei"/>
                <a:cs typeface="Microsoft JhengHei"/>
              </a:rPr>
              <a:t>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965960"/>
            <a:ext cx="3044952" cy="3931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6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1H26 營業現金流 −154.5 億；存貨需在 2H26 轉為營收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Kevin 模型：情境 A 2,265 元、情境 B 2,602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來源：Kevin 模型 2026-10-02（錨定 00891 PE 28、M_adj 0.85，2026-09-11）；G/H/W/股本取 115Q2 合併財報；1–8 月營收為二手資料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23 / 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情境 A（1–8 月年化）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  <a:cs typeface="Microsoft JhengHei"/>
                        </a:rPr>
                        <a:t>情境 B（近兩月動能）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年化營收（億）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3,690.1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4,066.9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淨利率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11.70%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11.56%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業主淨利占比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100.07%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預期 EPS（元）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76.99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83.86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EPS 成長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77.9%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雙 PE（P／Q）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28.2x／30.6x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29.1x／33.0x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模型價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2,602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較 10/1 收盤 1,900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+19.2%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Arial"/>
                          <a:ea typeface="Microsoft JhengHei"/>
                          <a:cs typeface="Microsoft JhengHei"/>
                        </a:rPr>
                        <a:t>+37.0%</a:t>
                      </a:r>
                    </a:p>
                  </a:txBody>
                  <a:tcPr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風險與追蹤：依網通模組 guards 逐項檢查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 p.5–6、p.9；2024 年報（MOPS F04） p.82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937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交貨模式：自購料件轉嫁壓低毛利率、客戶代料推高毛利率，同時看營益率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換代備料：存貨 769.3 億，追蹤 2H26 去化與存貨天數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客戶集中：最大客戶 47%，並列轉單或延遲的下行情境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未公告專案：CPO／LPO 交換器不推定出貨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匯兌：營收以美元為主，1H26 業外占稅前 2.2%，未達 10% 門檻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58368" y="274320"/>
            <a:ext cx="11002975" cy="777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2800" b="1">
                <a:solidFill>
                  <a:srgbClr val="14323A"/>
                </a:solidFill>
                <a:latin typeface="Impact"/>
                <a:ea typeface="Microsoft JhengHei"/>
                <a:cs typeface="Microsoft JhengHei"/>
              </a:rPr>
              <a:t>結論：交換器換代＋AI 網路支撐成長，追蹤客戶集中與存貨去化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55080"/>
            <a:ext cx="11277295" cy="9144"/>
          </a:xfrm>
          <a:prstGeom prst="rect">
            <a:avLst/>
          </a:prstGeom>
          <a:solidFill>
            <a:srgbClr val="9FB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"/>
          <p:cNvSpPr txBox="1"/>
          <p:nvPr/>
        </p:nvSpPr>
        <p:spPr>
          <a:xfrm>
            <a:off x="457200" y="6400800"/>
            <a:ext cx="9814255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來源：115Q2 合併財報（MOPS 202602 AI1）、2024 年報（MOPS F04）</a:t>
            </a:r>
          </a:p>
        </p:txBody>
      </p:sp>
      <p:sp>
        <p:nvSpPr>
          <p:cNvPr id="7" name="page"/>
          <p:cNvSpPr txBox="1"/>
          <p:nvPr/>
        </p:nvSpPr>
        <p:spPr>
          <a:xfrm>
            <a:off x="10362895" y="6400800"/>
            <a:ext cx="1371600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9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4415" cy="43891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Kevin 情境 A 2,265 元（+19%）、情境 B 2,602 元（+37%），均以 10/1 收盤 1,900 元比較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催化：9 月營收（10/10 前）、3Q26 財報（11/14 前）、1.6T 交換器量產時程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14323A"/>
                </a:solidFill>
                <a:latin typeface="Arial"/>
                <a:ea typeface="Microsoft JhengHei"/>
                <a:cs typeface="Microsoft JhengHei"/>
              </a:rPr>
              <a:t>• 缺口：2025 年度財報與年報、法說會簡報、MOPS 月營收原始檔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sclaimer"/>
          <p:cNvSpPr txBox="1"/>
          <p:nvPr/>
        </p:nvSpPr>
        <p:spPr>
          <a:xfrm>
            <a:off x="685800" y="5705856"/>
            <a:ext cx="10820095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/>
            <a:r>
              <a:rPr sz="1200" b="0">
                <a:solidFill>
                  <a:srgbClr val="5B7077"/>
                </a:solidFill>
                <a:latin typeface="Arial"/>
                <a:ea typeface="Microsoft JhengHei"/>
                <a:cs typeface="Microsoft JhengHei"/>
              </a:rPr>
              <a:t>本簡報為個人研究整理，非投資建議。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mpact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