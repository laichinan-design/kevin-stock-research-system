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營收（億元）</c:v>
                </c:pt>
              </c:strCache>
            </c:strRef>
          </c:tx>
          <c:dPt>
            <c:idx val="0"/>
            <c:spPr>
              <a:solidFill>
                <a:srgbClr val="028090"/>
              </a:solidFill>
            </c:spPr>
          </c:dPt>
          <c:dPt>
            <c:idx val="1"/>
            <c:spPr>
              <a:solidFill>
                <a:srgbClr val="00A896"/>
              </a:solidFill>
            </c:spPr>
          </c:dPt>
          <c:dPt>
            <c:idx val="2"/>
            <c:spPr>
              <a:solidFill>
                <a:srgbClr val="9FB7BC"/>
              </a:solidFill>
            </c:spPr>
          </c:dPt>
          <c:cat>
            <c:strRef>
              <c:f>Sheet1!$A$2:$A$4</c:f>
              <c:strCache>
                <c:ptCount val="3"/>
                <c:pt idx="0">
                  <c:v>測試</c:v>
                </c:pt>
                <c:pt idx="1">
                  <c:v>封裝</c:v>
                </c:pt>
                <c:pt idx="2">
                  <c:v>其他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158.4</c:v>
                </c:pt>
                <c:pt idx="1">
                  <c:v>35.9</c:v>
                </c:pt>
                <c:pt idx="2">
                  <c:v>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2026/1–5 營收占比（%）</c:v>
                </c:pt>
              </c:strCache>
            </c:strRef>
          </c:tx>
          <c:dPt>
            <c:idx val="0"/>
            <c:spPr>
              <a:solidFill>
                <a:srgbClr val="028090"/>
              </a:solidFill>
            </c:spPr>
          </c:dPt>
          <c:dPt>
            <c:idx val="1"/>
            <c:spPr>
              <a:solidFill>
                <a:srgbClr val="00A896"/>
              </a:solidFill>
            </c:spPr>
          </c:dPt>
          <c:dPt>
            <c:idx val="2"/>
            <c:spPr>
              <a:solidFill>
                <a:srgbClr val="9FB7BC"/>
              </a:solidFill>
            </c:spPr>
          </c:dPt>
          <c:dPt>
            <c:idx val="3"/>
            <c:spPr>
              <a:solidFill>
                <a:srgbClr val="5B7077"/>
              </a:solidFill>
            </c:spPr>
          </c:dPt>
          <c:dPt>
            <c:idx val="4"/>
            <c:spPr>
              <a:solidFill>
                <a:srgbClr val="02C39A"/>
              </a:solidFill>
            </c:spPr>
          </c:dPt>
          <c:cat>
            <c:strRef>
              <c:f>Sheet1!$A$2:$A$6</c:f>
              <c:strCache>
                <c:ptCount val="5"/>
                <c:pt idx="0">
                  <c:v>手機</c:v>
                </c:pt>
                <c:pt idx="1">
                  <c:v>AI／ASIC／矽光子／HPC</c:v>
                </c:pt>
                <c:pt idx="2">
                  <c:v>網通／IoT</c:v>
                </c:pt>
                <c:pt idx="3">
                  <c:v>消費／智慧家庭</c:v>
                </c:pt>
                <c:pt idx="4">
                  <c:v>車用／醫療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31</c:v>
                </c:pt>
                <c:pt idx="1">
                  <c:v>23</c:v>
                </c:pt>
                <c:pt idx="2">
                  <c:v>22</c:v>
                </c:pt>
                <c:pt idx="3">
                  <c:v>18</c:v>
                </c:pt>
                <c:pt idx="4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營收（億元）</c:v>
                </c:pt>
              </c:strCache>
            </c:strRef>
          </c:tx>
          <c:spPr>
            <a:solidFill>
              <a:srgbClr val="028090"/>
            </a:solidFill>
          </c:spPr>
          <c:cat>
            <c:strRef>
              <c:f>Sheet1!$A$2:$A$6</c:f>
              <c:strCache>
                <c:ptCount val="5"/>
                <c:pt idx="0">
                  <c:v>2Q25</c:v>
                </c:pt>
                <c:pt idx="1">
                  <c:v>3Q25</c:v>
                </c:pt>
                <c:pt idx="2">
                  <c:v>4Q25</c:v>
                </c:pt>
                <c:pt idx="3">
                  <c:v>1Q26</c:v>
                </c:pt>
                <c:pt idx="4">
                  <c:v>2Q26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47.8</c:v>
                </c:pt>
                <c:pt idx="1">
                  <c:v>48.5</c:v>
                </c:pt>
                <c:pt idx="2">
                  <c:v>52.7</c:v>
                </c:pt>
                <c:pt idx="3">
                  <c:v>52.9</c:v>
                </c:pt>
                <c:pt idx="4">
                  <c:v>58.8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60520"/>
            <a:ext cx="292608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731520" y="1554480"/>
            <a:ext cx="10728655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400" b="1">
                <a:solidFill>
                  <a:srgbClr val="FFFFFF"/>
                </a:solidFill>
                <a:latin typeface="Impact"/>
                <a:ea typeface="Microsoft JhengHei"/>
                <a:cs typeface="Microsoft JhengHei"/>
              </a:rPr>
              <a:t>矽格 6257｜AI 測試與矽光子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產品供應鏈與競爭分析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2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資料截止 2026-10-02｜產業模組 osat（封裝測試）｜Kevin 模型 CPO 錨定情境 A／B ｜ 2026-10-02 ｜ 非投資建議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結論：獲利創同期新高，股價已到模型合理區上緣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p.8–9；Kevin workbook 2026-09-11（1–8 月營收）；Kevin 模型 2026-10-02；Bigdata.com（25Q3 毛利率、股價）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111.7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1H26 營收（億元）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年增 18.1%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983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4.65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1H26 EPS（元）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1H25 2.26 元，年增 106%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167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266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Kevin 情境 A（元）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較 10/1 收盤 256.5 元 +3.7%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5191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351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34.2%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26Q2 毛利率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351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25Q3 低點 27.2%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11094415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1–8 月營收 152.6 億、年增 20.5%；7、8 月連兩月破 20 億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匯損還原基期（J＝7.16）下情境 A 238 元（−7.1%），需 Q3 淨利率再升才有空間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投資論點：AI／矽光子測試帶量，新產能決定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p.54、p.62、p.81；115Q2 合併財報 p.60；優分析 2026-06（應用別，法說二手）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7498079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AI／ASIC／矽光子／HPC 占比由 19% 升到 23%（2026/1–5）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– 自製 MAP ATE 已量產矽光子 EIC 測試，PIC 開發中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經營槓桿：毛利率 27.2% → 34.2%（25Q3 → 26Q2）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– 折舊占營收 18.5%，稼動率回升的放大效果明顯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產能：湖口二廠 2026/7 量產、中興三廠 2027Q1 完工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風險：手機仍占 31%、最大客戶 22.3%、capex 88 億使現金流轉負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看 Q3 毛利率能否在新廠折舊下守住 34%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公司與產品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測試占八成，封裝聚焦晶圓級與覆晶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營收結構：測試占 80.9%，封裝占 18.3%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年報（MOPS F04） p.48（營業比重）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5 / 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2024 → 2025 測試占比由 79.6% 升到 80.9%；封裝營收持平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應用別：AI 等高階應用 23%，正追近手機的 31%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來源：優分析 2026-06（法說二手）；年報未揭露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6 / 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公司法說數字經媒體轉述，年報未揭露應用別；手機占比過去在 40% 以上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單季走勢：營收連三季創高，毛利率回到 34%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p.8–9（2Q25、2Q26、1Q26＝1H 減 Q2）；3Q25、4Q25 為 Bigdata.com（FMP），未以 MOPS 原檔核對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7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季度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營收（億）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毛利率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營益率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業外（億）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EPS（元）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2Q25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3Q25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48.5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27.2%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17.8%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+2.52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1.68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4Q25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1Q26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52.9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31.7%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22.4%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+1.96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2.10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2Q26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服務組合：從凸塊、晶圓測試到成品測試的一條龍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年報（MOPS F04） p.48、p.58、p.61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8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2567863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晶圓測試 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探針卡＋Prober，封裝前區分晶粒良窳；3 奈米量產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823" y="1325880"/>
            <a:ext cx="2567863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703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成品測試 FT／SLT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Load board＋Handler；Burn-in、系統級測試擴產中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325880"/>
            <a:ext cx="2567863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晶圓級封裝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8／12 吋 WLCSP、Solder Bump、Cu-pillar、覆晶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5191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5191" y="1325880"/>
            <a:ext cx="2567863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8071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車用高可靠度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071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IATF 16949、ISO 26262 ASIL D 流程（台灣首家封測廠）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工程圖解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圖組依 osat 產業模組 visual_templates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封測流程：凸塊、CP、封裝、FT 一條龍，營收重心在測試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p.48、p.58、p.61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10 / 25</a:t>
            </a:r>
          </a:p>
        </p:txBody>
      </p:sp>
      <p:pic>
        <p:nvPicPr>
          <p:cNvPr id="8" name="Picture 7" descr="01_封測流程總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流程依年報產製過程；深色為測試工序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測試平台：自製 MAP ATE 是矽格少見的垂直整合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p.48、p.54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11 / 25</a:t>
            </a:r>
          </a:p>
        </p:txBody>
      </p:sp>
      <p:pic>
        <p:nvPicPr>
          <p:cNvPr id="8" name="Picture 7" descr="02_測試平台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中層硬體配置為通用示意（研究推論）；ATE 與自動化依研發成果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新技術：矽光子由 EIC 延伸到 PIC，CPO 為下一階段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p.1、p.48–49、p.54–56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12 / 25</a:t>
            </a:r>
          </a:p>
        </p:txBody>
      </p:sp>
      <p:pic>
        <p:nvPicPr>
          <p:cNvPr id="8" name="Picture 7" descr="03_新技術測試路線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各項目營收占比公司未揭露，不推估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產能：湖口二廠、中興三廠接力開出，capex 上修到 88 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p.76、p.81–83；115Q2 合併財報 p.60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13 / 25</a:t>
            </a:r>
          </a:p>
        </p:txBody>
      </p:sp>
      <p:pic>
        <p:nvPicPr>
          <p:cNvPr id="8" name="Picture 7" descr="04_產能與資本支出時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湖口二廠量產月份與 88 億指引為媒體轉述法說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價值鏈：晶圓代工之後的專業測試，前三大客戶 45%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p.53–62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14 / 25</a:t>
            </a:r>
          </a:p>
        </p:txBody>
      </p:sp>
      <p:pic>
        <p:nvPicPr>
          <p:cNvPr id="8" name="Picture 7" descr="05_產業價值鏈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客戶以代號揭露，不推定名稱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財務結構：折舊占營收 18.5%，稼動率決定毛利率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p.8–9、p.31、p.60–61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15 / 25</a:t>
            </a:r>
          </a:p>
        </p:txBody>
      </p:sp>
      <p:pic>
        <p:nvPicPr>
          <p:cNvPr id="8" name="Picture 7" descr="06_折舊槓桿與獲利結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上排經營槓桿為研究推論；數字依 115Q2 合併財報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供應鏈與競爭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同業依 osat 規則分純測試與封測一體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客戶與市場：最大客戶占比下降，前三大合計升到 45%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年報（MOPS F04） p.57（銷售地區、市占）、p.62（主要客戶）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17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客戶甲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客戶丁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9.3%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11.6%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客戶乙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前三大合計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42.7%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45.3%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內銷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外銷：亞洲／美洲／其他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20.1%／4.7%／5.2%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18.6%／5.5%／3.2%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台灣封測市占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同業：本益比低於純測試同業，毛利率也低 5.6 個百分點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來源：Bigdata.com（FMP）2026-10-01 收盤與 TTM；矽格以 115Q2 合併財報重算；日月光不列入中位數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18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類型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股價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TTM P/E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P/B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最新季毛利率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矽格 6257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測試為主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30.1x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京元電子 2449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純測試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296.0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39.3x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6.1x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39.5%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欣銓 3264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純測試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245.5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31.0x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純測試中位數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35.1x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6.0x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39.8%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日月光投控 3711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封測一體（參考）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51.0x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競爭格局：大廠集中化，矽格靠利基測試與彈性取得訂單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 年報 p.53、p.57；Bigdata.com（FMP）同業資料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7498079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年報：OSAT 朝大者恆大，IDM 持續釋出委外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– 大廠：日月光、Amkor；專業測試：京元電（年報列舉）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矽格定位：利基型測試＋自製 ATE＋車用功能安全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相對估值：RelPE 0.86、RelGM −5.6ppt → 弱質折價，非低估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折價收斂條件：AI／矽光子占比續升，毛利率向 38% 以上靠攏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與純測試同業的毛利率差距是估值折價的主因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財務與估值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Kevin 模型改用 CPO 錨定（與 workbook 分類一致）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季營收連三季創高，2Q26 達 58.8 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p.8；3Q25、4Q25 為 Bigdata.com（FMP）；7、8 月營收為媒體報導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21 / 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7＋8 月已 40.8 億，Q3 只要 9 月 ≥ 18 億即持平 Q2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Kevin 模型：情境 A 266 元，匯損還原基期下 238 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來源：Kevin 模型 2026-10-02（CPO 錨定 00891 PE 28、M_adj 0.85，2026-09-11）；G/H/W/股本取 115Q2 合併財報；非經常性占稅前 4.8%（clean）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22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A｜帳面 J 6.14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A｜還原 J 7.16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B｜帳面 J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B｜還原 J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年化營收（億）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合併淨利率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22.19%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22.19%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23.10%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23.10%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業主淨利占比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0.8975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0.8975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0.8975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0.8975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預期 EPS（元）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9.42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9.42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10.03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10.03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EPS 成長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雙 PE（P／Q）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27.5x／28.9x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25.8x／24.7x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28.2x／30.7x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26.6x／26.5x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模型價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266.1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266.2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較 10/1 收盤 256.5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+3.7%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−7.1%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+15.1%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+3.8%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敏感度：合併淨利率每升 1 個百分點，模型價約加 19 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來源：Kevin 模型情境 A、CPO 錨定、帳面基期 J 6.14；其他輸入同上頁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23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合併淨利率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預期 EPS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模型價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較現價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−13.1%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21.0%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8.91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242.4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−5.5%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22.2%（1H26）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266.0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23.1%（2Q26）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9.81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284.3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+10.8%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302.7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+18.0%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25.0%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10.61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323.5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+26.1%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風險與追蹤：依 osat 模組 guards 逐項檢查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 p.38、p.60–61；2025 年報 p.81；Bigdata.com（現金流）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7498079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新廠折舊先行：湖口二廠 2026/7、中興三廠 2027Q1，毛利率可能先降後升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客戶包產能不等於長約：湖口二廠大客戶未經公司揭露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匯兌：25Q2 匯損 7.6 億；1H26 匯兌 +0.6 億，非經常性合計占稅前 4.8%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擴產期現金流：1H26 capex 66 億，轉為淨負債約 23 億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少數股權：台星科非控制權益 52.55%，W＝0.8975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催化：9 月營收（10/10 前）、3Q26 財報與法說（約 11 月上旬）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結論：基本面向上，估值需等 Q3 證明淨利率再升一階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AI1）、2025 年報（MOPS F04）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3891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Kevin（CPO 錨定）情境 A 266 元（+3.7%）、B 295 元（+15.1%）；匯損還原基期 238／266 元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上一版（10/1）誤用投資組合錨定，目標 191–216 元已作廢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缺口：2026Q1 財報本機未讀、法說簡報官方版、MOPS 月營收原始檔、公司身分官方驗證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sclaimer"/>
          <p:cNvSpPr txBox="1"/>
          <p:nvPr/>
        </p:nvSpPr>
        <p:spPr>
          <a:xfrm>
            <a:off x="685800" y="5705856"/>
            <a:ext cx="10820095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本簡報為個人研究整理，非投資建議。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mpact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